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011680"/>
            <a:ext cx="731520" cy="508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TokenForge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4F195"/>
                </a:solidFill>
                <a:latin typeface="Calibri"/>
              </a:defRPr>
            </a:pPr>
            <a:r>
              <a:t>The Metaplex of RWA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800" b="0">
                <a:solidFill>
                  <a:srgbClr val="8B8BA7"/>
                </a:solidFill>
                <a:latin typeface="Calibri"/>
              </a:defRPr>
            </a:pPr>
            <a:r>
              <a:t>The first open-source SDK and issuer dashboard for the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8B8BA7"/>
                </a:solidFill>
                <a:latin typeface="Calibri"/>
              </a:defRPr>
            </a:pPr>
            <a:r>
              <a:t>Solana Security Token Standard (SSTS)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6A"/>
                </a:solidFill>
                <a:latin typeface="Calibri"/>
              </a:defRPr>
            </a:pPr>
            <a:r>
              <a:t>April 2026  |  Confidential</a:t>
            </a:r>
          </a:p>
        </p:txBody>
      </p:sp>
      <p:sp>
        <p:nvSpPr>
          <p:cNvPr id="7" name="Oval 6"/>
          <p:cNvSpPr/>
          <p:nvPr/>
        </p:nvSpPr>
        <p:spPr>
          <a:xfrm>
            <a:off x="9601200" y="457200"/>
            <a:ext cx="2286000" cy="2286000"/>
          </a:xfrm>
          <a:prstGeom prst="ellipse">
            <a:avLst/>
          </a:prstGeom>
          <a:solidFill>
            <a:srgbClr val="9945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0" y="4114800"/>
            <a:ext cx="2743200" cy="2743200"/>
          </a:xfrm>
          <a:prstGeom prst="ellipse">
            <a:avLst/>
          </a:prstGeom>
          <a:solidFill>
            <a:srgbClr val="14F19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F195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914400" cy="381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Issuing a Compliant Security Token</a:t>
            </a:r>
            <a:br/>
            <a:r>
              <a:t>on Solana Takes 2–3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Halborn SSTS spec published Jan 2026 — zero tooling exists three months later</a:t>
            </a:r>
          </a:p>
          <a:p>
            <a:pPr>
              <a:spcAft>
                <a:spcPts val="960"/>
              </a:spcAft>
              <a:defRPr sz="16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Asset managers must hand-roll Anchor CPI calls, implement KYC/AML verification, build Merkle trees for distributions, and stand up admin UIs</a:t>
            </a:r>
          </a:p>
          <a:p>
            <a:pPr>
              <a:spcAft>
                <a:spcPts val="960"/>
              </a:spcAft>
              <a:defRPr sz="16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Franklin Templeton, BlackRock, Securitize are all live on Solana — but there’s no SDK to follow</a:t>
            </a:r>
          </a:p>
          <a:p>
            <a:pPr>
              <a:spcAft>
                <a:spcPts val="960"/>
              </a:spcAft>
              <a:defRPr sz="16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2–3 month engineering project before a single asset goes 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743200"/>
            <a:ext cx="4754880" cy="320040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2700">
            <a:solidFill>
              <a:srgbClr val="14F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30175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F195"/>
                </a:solidFill>
                <a:latin typeface="Calibri"/>
              </a:defRPr>
            </a:pPr>
            <a:r>
              <a:t>Cost of Manual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56616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$50K+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457200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2–3 months of engineering time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No dashboard, no SDK, no canonical FAMP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Repeated by every issuer independently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D4D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914400" cy="381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SSTS Spec Exists.</a:t>
            </a:r>
            <a:br/>
            <a:r>
              <a:t>The Tooling Doesn’t.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5029200" cy="347472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F195"/>
                </a:solidFill>
                <a:latin typeface="Calibri"/>
              </a:defRPr>
            </a:pPr>
            <a:r>
              <a:t>What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40"/>
              </a:spcAft>
              <a:defRPr sz="1600" b="0">
                <a:solidFill>
                  <a:srgbClr val="8B8BA7"/>
                </a:solidFill>
                <a:latin typeface="Calibri"/>
              </a:defRPr>
            </a:pPr>
            <a:r>
              <a:t>✓  SSTS spec by Halborn (Jan 2026)</a:t>
            </a:r>
          </a:p>
          <a:p>
            <a:pPr algn="l">
              <a:spcAft>
                <a:spcPts val="640"/>
              </a:spcAft>
              <a:defRPr sz="1600" b="0">
                <a:solidFill>
                  <a:srgbClr val="8B8BA7"/>
                </a:solidFill>
                <a:latin typeface="Calibri"/>
              </a:defRPr>
            </a:pPr>
            <a:r>
              <a:t>✓  Co-authored by Franklin Templeton,</a:t>
            </a:r>
          </a:p>
          <a:p>
            <a:pPr algn="l">
              <a:spcAft>
                <a:spcPts val="640"/>
              </a:spcAft>
              <a:defRPr sz="1600" b="0">
                <a:solidFill>
                  <a:srgbClr val="8B8BA7"/>
                </a:solidFill>
                <a:latin typeface="Calibri"/>
              </a:defRPr>
            </a:pPr>
            <a:r>
              <a:t>    Securitize, Superstate, Solana Foundation</a:t>
            </a:r>
          </a:p>
          <a:p>
            <a:pPr algn="l">
              <a:spcAft>
                <a:spcPts val="640"/>
              </a:spcAft>
              <a:defRPr sz="1600" b="0">
                <a:solidFill>
                  <a:srgbClr val="8B8BA7"/>
                </a:solidFill>
                <a:latin typeface="Calibri"/>
              </a:defRPr>
            </a:pPr>
            <a:r>
              <a:t>✓  FAMP proposal (sRFC 37)</a:t>
            </a:r>
          </a:p>
          <a:p>
            <a:pPr algn="l">
              <a:spcAft>
                <a:spcPts val="640"/>
              </a:spcAft>
              <a:defRPr sz="1600" b="0">
                <a:solidFill>
                  <a:srgbClr val="8B8BA7"/>
                </a:solidFill>
                <a:latin typeface="Calibri"/>
              </a:defRPr>
            </a:pPr>
            <a:r>
              <a:t>✓  Major institutions live on Solana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743200"/>
            <a:ext cx="5029200" cy="347472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D4D"/>
                </a:solidFill>
                <a:latin typeface="Calibri"/>
              </a:defRPr>
            </a:pPr>
            <a:r>
              <a:t>What’s Missing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47472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40"/>
              </a:spcAft>
              <a:defRPr sz="1600" b="0">
                <a:solidFill>
                  <a:srgbClr val="8B8BA7"/>
                </a:solidFill>
                <a:latin typeface="Calibri"/>
              </a:defRPr>
            </a:pPr>
            <a:r>
              <a:t>✗  No SSTS implementation program</a:t>
            </a:r>
          </a:p>
          <a:p>
            <a:pPr algn="l">
              <a:spcAft>
                <a:spcPts val="640"/>
              </a:spcAft>
              <a:defRPr sz="1600" b="0">
                <a:solidFill>
                  <a:srgbClr val="8B8BA7"/>
                </a:solidFill>
                <a:latin typeface="Calibri"/>
              </a:defRPr>
            </a:pPr>
            <a:r>
              <a:t>✗  No FAMP canonical program</a:t>
            </a:r>
          </a:p>
          <a:p>
            <a:pPr algn="l">
              <a:spcAft>
                <a:spcPts val="640"/>
              </a:spcAft>
              <a:defRPr sz="1600" b="0">
                <a:solidFill>
                  <a:srgbClr val="8B8BA7"/>
                </a:solidFill>
                <a:latin typeface="Calibri"/>
              </a:defRPr>
            </a:pPr>
            <a:r>
              <a:t>✗  No TypeScript SDK</a:t>
            </a:r>
          </a:p>
          <a:p>
            <a:pPr algn="l">
              <a:spcAft>
                <a:spcPts val="640"/>
              </a:spcAft>
              <a:defRPr sz="1600" b="0">
                <a:solidFill>
                  <a:srgbClr val="8B8BA7"/>
                </a:solidFill>
                <a:latin typeface="Calibri"/>
              </a:defRPr>
            </a:pPr>
            <a:r>
              <a:t>✗  No issuer dashboard</a:t>
            </a:r>
          </a:p>
          <a:p>
            <a:pPr algn="l">
              <a:spcAft>
                <a:spcPts val="640"/>
              </a:spcAft>
              <a:defRPr sz="1600" b="0">
                <a:solidFill>
                  <a:srgbClr val="8B8BA7"/>
                </a:solidFill>
                <a:latin typeface="Calibri"/>
              </a:defRPr>
            </a:pPr>
            <a:r>
              <a:t>✗  Zero builder tooling exists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F195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914400" cy="381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From Months to One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800" b="0">
                <a:solidFill>
                  <a:srgbClr val="8B8BA7"/>
                </a:solidFill>
                <a:latin typeface="Calibri"/>
              </a:defRPr>
            </a:pPr>
            <a:r>
              <a:t>TokenForge wraps the full SSTS Anchor program + FAMP into a typed TypeScript SDK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8B8BA7"/>
                </a:solidFill>
                <a:latin typeface="Calibri"/>
              </a:defRPr>
            </a:pPr>
            <a:r>
              <a:t>and a no-code issuer dashboard — compliance teams can mint, manage, and distribute without writing 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2700">
            <a:solidFill>
              <a:srgbClr val="14F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3931920"/>
            <a:ext cx="548640" cy="381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605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F195"/>
                </a:solidFill>
                <a:latin typeface="Calibri"/>
              </a:defRPr>
            </a:pPr>
            <a:r>
              <a:t>SSTS Anchor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634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BA7"/>
                </a:solidFill>
                <a:latin typeface="Calibri"/>
              </a:defRPr>
            </a:pPr>
            <a:r>
              <a:t>Full SSTS spec implementation: create_token, mint_to, transfer hook, freeze/thaw, pause, distributions, corporate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365760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2700">
            <a:solidFill>
              <a:srgbClr val="994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79" y="3931920"/>
            <a:ext cx="548640" cy="3810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41605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45FF"/>
                </a:solidFill>
                <a:latin typeface="Calibri"/>
              </a:defRPr>
            </a:pPr>
            <a:r>
              <a:t>FAMP Canonical Impl.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46634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BA7"/>
                </a:solidFill>
                <a:latin typeface="Calibri"/>
              </a:defRPr>
            </a:pPr>
            <a:r>
              <a:t>sRFC 37 Freeze Authority Management: block/allow lists as Merkle roots, atomic enforcement, delegated freeze authority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65760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0" y="3931920"/>
            <a:ext cx="54864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41605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Calibri"/>
              </a:defRPr>
            </a:pPr>
            <a:r>
              <a:t>TypeScript SDK +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6634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BA7"/>
                </a:solidFill>
                <a:latin typeface="Calibri"/>
              </a:defRPr>
            </a:pPr>
            <a:r>
              <a:t>npm install @tokenforge/sdk — typed client for all SSTS + FAMP instructions. No-code dashboard for compliance officers.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F195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914400" cy="381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Three Steps to Compliant Token Issuance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200" b="1">
                <a:solidFill>
                  <a:srgbClr val="0F0F2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F195"/>
                </a:solidFill>
                <a:latin typeface="Calibri"/>
              </a:defRPr>
            </a:pPr>
            <a:r>
              <a:t>Connect + Configure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0604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8BA7"/>
                </a:solidFill>
                <a:latin typeface="Calibri"/>
              </a:defRPr>
            </a:pPr>
            <a:r>
              <a:t>Issuer connects a multisig wallet, sets the KYC verification program address and FAMP block/allow list policy. TokenForge deploys the SSTS token with all extensions pre-configured.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880360"/>
            <a:ext cx="25400" cy="822960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703320"/>
            <a:ext cx="640080" cy="64008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200" b="1">
                <a:solidFill>
                  <a:srgbClr val="0F0F2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945FF"/>
                </a:solidFill>
                <a:latin typeface="Calibri"/>
              </a:defRPr>
            </a:pPr>
            <a:r>
              <a:t>Mint + Manage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11480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8BA7"/>
                </a:solidFill>
                <a:latin typeface="Calibri"/>
              </a:defRPr>
            </a:pPr>
            <a:r>
              <a:t>Mint tokens to KYC’d holders from the dashboard. Freeze/thaw individual accounts or update the block/allow list in one click. All actions are CPI calls to the on-chain SSTS program.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4389120"/>
            <a:ext cx="25400" cy="822960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5212079"/>
            <a:ext cx="640080" cy="640080"/>
          </a:xfrm>
          <a:prstGeom prst="ellipse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200" b="1">
                <a:solidFill>
                  <a:srgbClr val="0F0F2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1663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EFF"/>
                </a:solidFill>
                <a:latin typeface="Calibri"/>
              </a:defRPr>
            </a:pPr>
            <a:r>
              <a:t>Distribute +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623559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8BA7"/>
                </a:solidFill>
                <a:latin typeface="Calibri"/>
              </a:defRPr>
            </a:pPr>
            <a:r>
              <a:t>Upload a holder snapshot. TokenForge builds the Merkle tree, posts the root on-chain, and holders claim dividends. Dashboard shows holder registry and distribution history.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F195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914400" cy="381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Built for Security and Compliance from Day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0698480" cy="164592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2700">
            <a:solidFill>
              <a:srgbClr val="14F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F195"/>
                </a:solidFill>
                <a:latin typeface="Calibri"/>
              </a:defRPr>
            </a:pPr>
            <a:r>
              <a:t>ON-CHAIN  |  Solana Mainnet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834640"/>
            <a:ext cx="3200400" cy="777240"/>
          </a:xfrm>
          <a:prstGeom prst="roundRect">
            <a:avLst>
              <a:gd name="adj" fmla="val 5000"/>
            </a:avLst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SSTS Program</a:t>
            </a:r>
            <a:br/>
            <a:r>
              <a:t>(Anchor/Rust)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834640"/>
            <a:ext cx="3200400" cy="777240"/>
          </a:xfrm>
          <a:prstGeom prst="roundRect">
            <a:avLst>
              <a:gd name="adj" fmla="val 5000"/>
            </a:avLst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926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FAMP Program</a:t>
            </a:r>
            <a:br/>
            <a:r>
              <a:t>(sRFC 37)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834640"/>
            <a:ext cx="2743200" cy="777240"/>
          </a:xfrm>
          <a:prstGeom prst="roundRect">
            <a:avLst>
              <a:gd name="adj" fmla="val 5000"/>
            </a:avLst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926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SPL Token 2022</a:t>
            </a:r>
            <a:br/>
            <a:r>
              <a:t>(transfer hook)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698480" cy="164592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2700">
            <a:solidFill>
              <a:srgbClr val="994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45FF"/>
                </a:solidFill>
                <a:latin typeface="Calibri"/>
              </a:defRPr>
            </a:pPr>
            <a:r>
              <a:t>OFF-CHAIN  |  Backend + Edge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846320"/>
            <a:ext cx="3200400" cy="777240"/>
          </a:xfrm>
          <a:prstGeom prst="roundRect">
            <a:avLst>
              <a:gd name="adj" fmla="val 5000"/>
            </a:avLst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9377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Hono REST API</a:t>
            </a:r>
            <a:br/>
            <a:r>
              <a:t>(Railway)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4846320"/>
            <a:ext cx="3200400" cy="777240"/>
          </a:xfrm>
          <a:prstGeom prst="roundRect">
            <a:avLst>
              <a:gd name="adj" fmla="val 5000"/>
            </a:avLst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49377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Merkle Proof Gen</a:t>
            </a:r>
            <a:br/>
            <a:r>
              <a:t>(Cloudflare Workers)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4846320"/>
            <a:ext cx="2743200" cy="777240"/>
          </a:xfrm>
          <a:prstGeom prst="roundRect">
            <a:avLst>
              <a:gd name="adj" fmla="val 5000"/>
            </a:avLst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4937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Holder Registry</a:t>
            </a:r>
            <a:br/>
            <a:r>
              <a:t>(Supabase)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6217920"/>
            <a:ext cx="10698480" cy="45720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6263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FF"/>
                </a:solidFill>
                <a:latin typeface="Calibri"/>
              </a:defRPr>
            </a:pPr>
            <a:r>
              <a:t>FRONTEND  |  Vite + React + TypeScript  |  Vercel  |  Dashboard + Registry + Claim Pages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F195"/>
                </a:solidFill>
                <a:latin typeface="Calibri"/>
              </a:defRPr>
            </a:pPr>
            <a:r>
              <a:t>WHY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914400" cy="381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Window Is 3–9 Months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60320"/>
            <a:ext cx="9601200" cy="137160"/>
          </a:xfrm>
          <a:prstGeom prst="roundRect">
            <a:avLst>
              <a:gd name="adj" fmla="val 5000"/>
            </a:avLst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61872" y="2423160"/>
            <a:ext cx="219456" cy="219456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F195"/>
                </a:solidFill>
                <a:latin typeface="Calibri"/>
              </a:defRPr>
            </a:pPr>
            <a:r>
              <a:t>Jan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8BA7"/>
                </a:solidFill>
                <a:latin typeface="Calibri"/>
              </a:defRPr>
            </a:pPr>
            <a:r>
              <a:t>SSTS spec</a:t>
            </a:r>
            <a:br/>
            <a:r>
              <a:t>published</a:t>
            </a:r>
          </a:p>
        </p:txBody>
      </p:sp>
      <p:sp>
        <p:nvSpPr>
          <p:cNvPr id="9" name="Oval 8"/>
          <p:cNvSpPr/>
          <p:nvPr/>
        </p:nvSpPr>
        <p:spPr>
          <a:xfrm>
            <a:off x="3662172" y="2423160"/>
            <a:ext cx="219456" cy="219456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0380" y="2926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945FF"/>
                </a:solidFill>
                <a:latin typeface="Calibri"/>
              </a:defRPr>
            </a:pPr>
            <a:r>
              <a:t>Feb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0380" y="3200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8BA7"/>
                </a:solidFill>
                <a:latin typeface="Calibri"/>
              </a:defRPr>
            </a:pPr>
            <a:r>
              <a:t>Franklin Templeton</a:t>
            </a:r>
            <a:br/>
            <a:r>
              <a:t>$800M on-chain</a:t>
            </a:r>
          </a:p>
        </p:txBody>
      </p:sp>
      <p:sp>
        <p:nvSpPr>
          <p:cNvPr id="12" name="Oval 11"/>
          <p:cNvSpPr/>
          <p:nvPr/>
        </p:nvSpPr>
        <p:spPr>
          <a:xfrm>
            <a:off x="5582412" y="2423160"/>
            <a:ext cx="219456" cy="219456"/>
          </a:xfrm>
          <a:prstGeom prst="ellipse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0620" y="2926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EFF"/>
                </a:solidFill>
                <a:latin typeface="Calibri"/>
              </a:defRPr>
            </a:pPr>
            <a:r>
              <a:t>Mar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0620" y="3200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8BA7"/>
                </a:solidFill>
                <a:latin typeface="Calibri"/>
              </a:defRPr>
            </a:pPr>
            <a:r>
              <a:t>Contra launches</a:t>
            </a:r>
            <a:br/>
            <a:r>
              <a:t>zero builder tooling</a:t>
            </a:r>
          </a:p>
        </p:txBody>
      </p:sp>
      <p:sp>
        <p:nvSpPr>
          <p:cNvPr id="15" name="Oval 14"/>
          <p:cNvSpPr/>
          <p:nvPr/>
        </p:nvSpPr>
        <p:spPr>
          <a:xfrm>
            <a:off x="7982712" y="2423160"/>
            <a:ext cx="219456" cy="219456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2926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4D4D"/>
                </a:solidFill>
                <a:latin typeface="Calibri"/>
              </a:defRPr>
            </a:pPr>
            <a:r>
              <a:t>Apr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200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8BA7"/>
                </a:solidFill>
                <a:latin typeface="Calibri"/>
              </a:defRPr>
            </a:pPr>
            <a:r>
              <a:t>Today: zero</a:t>
            </a:r>
            <a:br/>
            <a:r>
              <a:t>SSTS implementations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10863072" y="2423160"/>
            <a:ext cx="219456" cy="219456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0" y="2926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  <a:latin typeface="Calibri"/>
              </a:defRPr>
            </a:pPr>
            <a:r>
              <a:t>Jul–Dec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3200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8BA7"/>
                </a:solidFill>
                <a:latin typeface="Calibri"/>
              </a:defRPr>
            </a:pPr>
            <a:r>
              <a:t>Window closes:</a:t>
            </a:r>
            <a:br/>
            <a:r>
              <a:t>well-resourced teams</a:t>
            </a:r>
            <a:br/>
            <a:r>
              <a:t>claim this space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2700">
            <a:solidFill>
              <a:srgbClr val="14F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F195"/>
                </a:solidFill>
                <a:latin typeface="Calibri"/>
              </a:defRPr>
            </a:pPr>
            <a:r>
              <a:t>RWA Market 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206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380%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BA7"/>
                </a:solidFill>
                <a:latin typeface="Calibri"/>
              </a:defRPr>
            </a:pPr>
            <a:r>
              <a:t>2022–2025, reaching $24B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45720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2700">
            <a:solidFill>
              <a:srgbClr val="994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4754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45FF"/>
                </a:solidFill>
                <a:latin typeface="Calibri"/>
              </a:defRPr>
            </a:pPr>
            <a:r>
              <a:t>SSTS Co-Authors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1206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BA7"/>
                </a:solidFill>
                <a:latin typeface="Calibri"/>
              </a:defRPr>
            </a:pPr>
            <a:r>
              <a:t>Halborn + Franklin Templeton +</a:t>
            </a:r>
            <a:br/>
            <a:r>
              <a:t>Securitize + Superstate + SF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5720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4754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D4D"/>
                </a:solidFill>
                <a:latin typeface="Calibri"/>
              </a:defRPr>
            </a:pPr>
            <a:r>
              <a:t>Existing Implementations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1206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BA7"/>
                </a:solidFill>
                <a:latin typeface="Calibri"/>
              </a:defRPr>
            </a:pPr>
            <a:r>
              <a:t>Zero SSTS tooling exists today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F195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914400" cy="381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$24B and Growing — But Zero Tooling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286000"/>
            <a:ext cx="4114800" cy="4114800"/>
          </a:xfrm>
          <a:prstGeom prst="ellipse">
            <a:avLst/>
          </a:prstGeom>
          <a:solidFill>
            <a:srgbClr val="0A2A15"/>
          </a:solidFill>
          <a:ln w="25400">
            <a:solidFill>
              <a:srgbClr val="14F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1680" y="2926080"/>
            <a:ext cx="2834640" cy="2834640"/>
          </a:xfrm>
          <a:prstGeom prst="ellipse">
            <a:avLst/>
          </a:prstGeom>
          <a:solidFill>
            <a:srgbClr val="151535"/>
          </a:solidFill>
          <a:ln w="25400">
            <a:solidFill>
              <a:srgbClr val="994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51760" y="3566160"/>
            <a:ext cx="1554480" cy="1554480"/>
          </a:xfrm>
          <a:prstGeom prst="ellipse">
            <a:avLst/>
          </a:prstGeom>
          <a:solidFill>
            <a:srgbClr val="1A1A3E"/>
          </a:solidFill>
          <a:ln w="254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F195"/>
                </a:solidFill>
                <a:latin typeface="Calibri"/>
              </a:defRPr>
            </a:pPr>
            <a:r>
              <a:t>TAM</a:t>
            </a:r>
            <a:br/>
            <a:r>
              <a:t>$24B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945FF"/>
                </a:solidFill>
                <a:latin typeface="Calibri"/>
              </a:defRPr>
            </a:pPr>
            <a:r>
              <a:t>SAM</a:t>
            </a:r>
            <a:br/>
            <a:r>
              <a:t>$4.8B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93192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EFF"/>
                </a:solidFill>
                <a:latin typeface="Calibri"/>
              </a:defRPr>
            </a:pPr>
            <a:r>
              <a:t>SOM</a:t>
            </a:r>
            <a:br/>
            <a:r>
              <a:t>$480K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40"/>
              </a:spcAft>
              <a:defRPr sz="1600" b="1">
                <a:solidFill>
                  <a:srgbClr val="14F195"/>
                </a:solidFill>
                <a:latin typeface="Calibri"/>
              </a:defRPr>
            </a:pPr>
            <a:r>
              <a:t>TAM: $24B  —  Global RWA tokenization market (2025)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40"/>
              </a:spcAft>
              <a:defRPr sz="1600" b="1">
                <a:solidFill>
                  <a:srgbClr val="9945FF"/>
                </a:solidFill>
                <a:latin typeface="Calibri"/>
              </a:defRPr>
            </a:pPr>
            <a:r>
              <a:t>SAM: $4.8B  —  Solana RWA segment (20%)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39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40"/>
              </a:spcAft>
              <a:defRPr sz="1600" b="1">
                <a:solidFill>
                  <a:srgbClr val="009EFF"/>
                </a:solidFill>
                <a:latin typeface="Calibri"/>
              </a:defRPr>
            </a:pPr>
            <a:r>
              <a:t>SOM: $480K  —  Year 1 (1% of SAM, 10 issuers)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754880"/>
            <a:ext cx="5029200" cy="164592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F195"/>
                </a:solidFill>
                <a:latin typeface="Calibri"/>
              </a:defRPr>
            </a:pPr>
            <a:r>
              <a:t>Bottom-Up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394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300" b="0">
                <a:solidFill>
                  <a:srgbClr val="8B8BA7"/>
                </a:solidFill>
                <a:latin typeface="Calibri"/>
              </a:defRPr>
            </a:pPr>
            <a:r>
              <a:t>10 issuers × $500/mo Starter + 2 × $2K Growth</a:t>
            </a:r>
          </a:p>
          <a:p>
            <a:pPr algn="l">
              <a:spcAft>
                <a:spcPts val="520"/>
              </a:spcAft>
              <a:defRPr sz="1300" b="0">
                <a:solidFill>
                  <a:srgbClr val="8B8BA7"/>
                </a:solidFill>
                <a:latin typeface="Calibri"/>
              </a:defRPr>
            </a:pPr>
            <a:r>
              <a:t>= $9K MRR = $108K ARR (Month 3 target)</a:t>
            </a:r>
          </a:p>
          <a:p>
            <a:pPr algn="l">
              <a:spcAft>
                <a:spcPts val="520"/>
              </a:spcAft>
              <a:defRPr sz="1300" b="0">
                <a:solidFill>
                  <a:srgbClr val="8B8BA7"/>
                </a:solidFill>
                <a:latin typeface="Calibri"/>
              </a:defRPr>
            </a:pPr>
            <a:r>
              <a:t>Break-even at 1–2 paying customers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F195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914400" cy="381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Open Source → SaaS → Protocol Fee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2700">
            <a:solidFill>
              <a:srgbClr val="14F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F195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Open Source + Grant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8BA7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520440"/>
            <a:ext cx="1097280" cy="254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49039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Full open-source on GitHub</a:t>
            </a:r>
          </a:p>
          <a:p>
            <a:pPr>
              <a:spcAft>
                <a:spcPts val="780"/>
              </a:spcAft>
              <a:defRPr sz="13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Apply for SF $250K RFP grant</a:t>
            </a:r>
          </a:p>
          <a:p>
            <a:pPr>
              <a:spcAft>
                <a:spcPts val="780"/>
              </a:spcAft>
              <a:defRPr sz="13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Zero revenue, maximum adoption</a:t>
            </a:r>
          </a:p>
          <a:p>
            <a:pPr>
              <a:spcAft>
                <a:spcPts val="780"/>
              </a:spcAft>
              <a:defRPr sz="13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Developer mindshare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2860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2700">
            <a:solidFill>
              <a:srgbClr val="994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45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743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Managed Service SaaS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200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8BA7"/>
                </a:solidFill>
                <a:latin typeface="Calibri"/>
              </a:defRPr>
            </a:pPr>
            <a:r>
              <a:t>Month 2–6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79" y="3520440"/>
            <a:ext cx="1097280" cy="2540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3749039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Starter: $500/mo (up to $10M AUM)</a:t>
            </a:r>
          </a:p>
          <a:p>
            <a:pPr>
              <a:spcAft>
                <a:spcPts val="780"/>
              </a:spcAft>
              <a:defRPr sz="13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Growth: $2,000/mo (up to $100M AUM)</a:t>
            </a:r>
          </a:p>
          <a:p>
            <a:pPr>
              <a:spcAft>
                <a:spcPts val="780"/>
              </a:spcAft>
              <a:defRPr sz="13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Enterprise: $5,000+/mo (unlimited)</a:t>
            </a:r>
          </a:p>
          <a:p>
            <a:pPr>
              <a:spcAft>
                <a:spcPts val="780"/>
              </a:spcAft>
              <a:defRPr sz="13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Hosted dashboard + Merkle infra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2860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4688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E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743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Protocol Fee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200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8BA7"/>
                </a:solidFill>
                <a:latin typeface="Calibri"/>
              </a:defRPr>
            </a:pPr>
            <a:r>
              <a:t>Month 6+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3520440"/>
            <a:ext cx="1097280" cy="254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3749039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Basis-point per-transfer fee</a:t>
            </a:r>
          </a:p>
          <a:p>
            <a:pPr>
              <a:spcAft>
                <a:spcPts val="780"/>
              </a:spcAft>
              <a:defRPr sz="13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Similar to Metaplex mint fee</a:t>
            </a:r>
          </a:p>
          <a:p>
            <a:pPr>
              <a:spcAft>
                <a:spcPts val="780"/>
              </a:spcAft>
              <a:defRPr sz="13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Toll road on institutional RWA</a:t>
            </a:r>
          </a:p>
          <a:p>
            <a:pPr>
              <a:spcAft>
                <a:spcPts val="780"/>
              </a:spcAft>
              <a:defRPr sz="13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Scales with ecosystem growth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251960" y="4114800"/>
            <a:ext cx="274320" cy="274320"/>
          </a:xfrm>
          <a:prstGeom prst="rightArrow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001000" y="4114800"/>
            <a:ext cx="274320" cy="274320"/>
          </a:xfrm>
          <a:prstGeom prst="rightArrow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F195"/>
                </a:solidFill>
                <a:latin typeface="Calibri"/>
              </a:defRPr>
            </a:pPr>
            <a:r>
              <a:t>COMPETITION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914400" cy="381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No One Has Built the SSTS Implementation Layer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9456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F195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2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F195"/>
                          </a:solidFill>
                          <a:latin typeface="Calibri"/>
                        </a:defRPr>
                      </a:pPr>
                      <a:r>
                        <a:t>SSTS Compliant</a:t>
                      </a:r>
                    </a:p>
                  </a:txBody>
                  <a:tcPr>
                    <a:solidFill>
                      <a:srgbClr val="12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F195"/>
                          </a:solidFill>
                          <a:latin typeface="Calibri"/>
                        </a:defRPr>
                      </a:pPr>
                      <a:r>
                        <a:t>Open Source</a:t>
                      </a:r>
                    </a:p>
                  </a:txBody>
                  <a:tcPr>
                    <a:solidFill>
                      <a:srgbClr val="12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F195"/>
                          </a:solidFill>
                          <a:latin typeface="Calibri"/>
                        </a:defRPr>
                      </a:pPr>
                      <a:r>
                        <a:t>Solana Native</a:t>
                      </a:r>
                    </a:p>
                  </a:txBody>
                  <a:tcPr>
                    <a:solidFill>
                      <a:srgbClr val="12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F195"/>
                          </a:solidFill>
                          <a:latin typeface="Calibri"/>
                        </a:defRPr>
                      </a:pPr>
                      <a:r>
                        <a:t>SDK + Dashboard</a:t>
                      </a:r>
                    </a:p>
                  </a:txBody>
                  <a:tcPr>
                    <a:solidFill>
                      <a:srgbClr val="12203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F195"/>
                          </a:solidFill>
                          <a:latin typeface="Calibri"/>
                        </a:defRPr>
                      </a:pPr>
                      <a:r>
                        <a:t>TokenForge</a:t>
                      </a:r>
                    </a:p>
                  </a:txBody>
                  <a:tcPr>
                    <a:solidFill>
                      <a:srgbClr val="1015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F195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15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F195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15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F195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15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F195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15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B8BA7"/>
                          </a:solidFill>
                          <a:latin typeface="Calibri"/>
                        </a:defRPr>
                      </a:pPr>
                      <a:r>
                        <a:t>Securitize</a:t>
                      </a:r>
                    </a:p>
                  </a:txBody>
                  <a:tcPr>
                    <a:solidFill>
                      <a:srgbClr val="121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4D4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21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4D4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21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4D4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21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F195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21A3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B8BA7"/>
                          </a:solidFill>
                          <a:latin typeface="Calibri"/>
                        </a:defRPr>
                      </a:pPr>
                      <a:r>
                        <a:t>Polymath (EVM)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4D4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4D4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4D4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F195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B8BA7"/>
                          </a:solidFill>
                          <a:latin typeface="Calibri"/>
                        </a:defRPr>
                      </a:pPr>
                      <a:r>
                        <a:t>Manual Anchor</a:t>
                      </a:r>
                    </a:p>
                  </a:txBody>
                  <a:tcPr>
                    <a:solidFill>
                      <a:srgbClr val="121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B8BA7"/>
                          </a:solidFill>
                          <a:latin typeface="Calibri"/>
                        </a:defRPr>
                      </a:pPr>
                      <a:r>
                        <a:t>✓*</a:t>
                      </a:r>
                    </a:p>
                  </a:txBody>
                  <a:tcPr>
                    <a:solidFill>
                      <a:srgbClr val="121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B8BA7"/>
                          </a:solidFill>
                          <a:latin typeface="Calibri"/>
                        </a:defRPr>
                      </a:pPr>
                      <a:r>
                        <a:t>✓*</a:t>
                      </a:r>
                    </a:p>
                  </a:txBody>
                  <a:tcPr>
                    <a:solidFill>
                      <a:srgbClr val="121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F195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21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4D4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21A3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B8BA7"/>
                          </a:solidFill>
                          <a:latin typeface="Calibri"/>
                        </a:defRPr>
                      </a:pPr>
                      <a:r>
                        <a:t>Hackathon Projects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4D4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F195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F195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4D4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8BA7"/>
                </a:solidFill>
                <a:latin typeface="Calibri"/>
              </a:defRPr>
            </a:pPr>
            <a:r>
              <a:t>* Manual Anchor = 2–3 months of engineering, $50K+ in dev time. TokenForge: one day, npm install.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F195"/>
                </a:solidFill>
                <a:latin typeface="Calibri"/>
              </a:defRPr>
            </a:pPr>
            <a:r>
              <a:t>GO-TO-MARKET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914400" cy="381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Developer-First, Ecosystem-Driven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83280" cy="384048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2700">
            <a:solidFill>
              <a:srgbClr val="14F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F195"/>
                </a:solidFill>
                <a:latin typeface="Calibri"/>
              </a:defRPr>
            </a:pPr>
            <a:r>
              <a:t>Week 1 — Launch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926080"/>
            <a:ext cx="1097280" cy="254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Open-source release on GitHub</a:t>
            </a:r>
          </a:p>
          <a:p>
            <a:pPr>
              <a:spcAft>
                <a:spcPts val="840"/>
              </a:spcAft>
              <a:defRPr sz="14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Post to Solana Discord (#developer-tools, #defi, #rwas)</a:t>
            </a:r>
          </a:p>
          <a:p>
            <a:pPr>
              <a:spcAft>
                <a:spcPts val="840"/>
              </a:spcAft>
              <a:defRPr sz="14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Tweet thread tagging @SolanaFndn, @Halborn, @Securitize</a:t>
            </a:r>
          </a:p>
          <a:p>
            <a:pPr>
              <a:spcAft>
                <a:spcPts val="840"/>
              </a:spcAft>
              <a:defRPr sz="14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Submit Solana Foundation $250K grant 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286000"/>
            <a:ext cx="3383280" cy="384048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2700">
            <a:solidFill>
              <a:srgbClr val="994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9945FF"/>
                </a:solidFill>
                <a:latin typeface="Calibri"/>
              </a:defRPr>
            </a:pPr>
            <a:r>
              <a:t>Month 1 — Warm Leads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79" y="2926080"/>
            <a:ext cx="1097280" cy="2540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32004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Direct email to SSTS co-authors</a:t>
            </a:r>
          </a:p>
          <a:p>
            <a:pPr>
              <a:spcAft>
                <a:spcPts val="840"/>
              </a:spcAft>
              <a:defRPr sz="14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Cold outreach to C4 accelerator RWA cos</a:t>
            </a:r>
          </a:p>
          <a:p>
            <a:pPr>
              <a:spcAft>
                <a:spcPts val="840"/>
              </a:spcAft>
              <a:defRPr sz="14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Publish DeFi integration guides</a:t>
            </a:r>
          </a:p>
          <a:p>
            <a:pPr>
              <a:spcAft>
                <a:spcPts val="840"/>
              </a:spcAft>
              <a:defRPr sz="14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Kamino / Drift / Orca integration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286000"/>
            <a:ext cx="3383280" cy="384048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EFF"/>
                </a:solidFill>
                <a:latin typeface="Calibri"/>
              </a:defRPr>
            </a:pPr>
            <a:r>
              <a:t>Month 3 — Distribution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2926080"/>
            <a:ext cx="1097280" cy="254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2004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Submit to Colosseum hackathon</a:t>
            </a:r>
          </a:p>
          <a:p>
            <a:pPr>
              <a:spcAft>
                <a:spcPts val="840"/>
              </a:spcAft>
              <a:defRPr sz="14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Partnership with Squads (multisig)</a:t>
            </a:r>
          </a:p>
          <a:p>
            <a:pPr>
              <a:spcAft>
                <a:spcPts val="840"/>
              </a:spcAft>
              <a:defRPr sz="14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Breakpoint 2026 talk submission</a:t>
            </a:r>
          </a:p>
          <a:p>
            <a:pPr>
              <a:spcAft>
                <a:spcPts val="840"/>
              </a:spcAft>
              <a:defRPr sz="1400">
                <a:solidFill>
                  <a:srgbClr val="8B8BA7"/>
                </a:solidFill>
                <a:latin typeface="Calibri"/>
              </a:defRPr>
              <a:buChar char="•"/>
              <a:buClr>
                <a:srgbClr val="14F195"/>
              </a:buClr>
            </a:pPr>
            <a:r>
              <a:t>SSTS issuer case studies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309360"/>
            <a:ext cx="10698480" cy="41148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4F195"/>
                </a:solidFill>
                <a:latin typeface="Calibri"/>
              </a:defRPr>
            </a:pPr>
            <a:r>
              <a:t>Growth lever: Every new SSTS token is a distribution event — issuers tell other issuers. DeFi integrations create pull demand.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F195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914400" cy="381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Path to $960K ARR in Year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846320"/>
            <a:ext cx="1828800" cy="182880"/>
          </a:xfrm>
          <a:prstGeom prst="roundRect">
            <a:avLst>
              <a:gd name="adj" fmla="val 5000"/>
            </a:avLst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8BA7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F195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8BA7"/>
                </a:solidFill>
                <a:latin typeface="Calibri"/>
              </a:defRPr>
            </a:pPr>
            <a:r>
              <a:t>Grant-funded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4846320"/>
            <a:ext cx="1828800" cy="182880"/>
          </a:xfrm>
          <a:prstGeom prst="roundRect">
            <a:avLst>
              <a:gd name="adj" fmla="val 5000"/>
            </a:avLst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8BA7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945FF"/>
                </a:solidFill>
                <a:latin typeface="Calibri"/>
              </a:defRPr>
            </a:pPr>
            <a:r>
              <a:t>$5K MRR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8BA7"/>
                </a:solidFill>
                <a:latin typeface="Calibri"/>
              </a:defRPr>
            </a:pPr>
            <a:r>
              <a:t>3–5 Starter customers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229100"/>
            <a:ext cx="1828800" cy="800100"/>
          </a:xfrm>
          <a:prstGeom prst="roundRect">
            <a:avLst>
              <a:gd name="adj" fmla="val 5000"/>
            </a:avLst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8BA7"/>
                </a:solidFill>
                <a:latin typeface="Calibri"/>
              </a:defRPr>
            </a:pPr>
            <a:r>
              <a:t>Month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719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  <a:r>
              <a:t>$25K MRR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4061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8BA7"/>
                </a:solidFill>
                <a:latin typeface="Calibri"/>
              </a:defRPr>
            </a:pPr>
            <a:r>
              <a:t>$300K ARR, mix of tiers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468880"/>
            <a:ext cx="1828800" cy="2560320"/>
          </a:xfrm>
          <a:prstGeom prst="roundRect">
            <a:avLst>
              <a:gd name="adj" fmla="val 5000"/>
            </a:avLst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8BA7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F195"/>
                </a:solidFill>
                <a:latin typeface="Calibri"/>
              </a:defRPr>
            </a:pPr>
            <a:r>
              <a:t>$80K MRR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8BA7"/>
                </a:solidFill>
                <a:latin typeface="Calibri"/>
              </a:defRPr>
            </a:pPr>
            <a:r>
              <a:t>$960K ARR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60720"/>
            <a:ext cx="10698480" cy="82296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852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BA7"/>
                </a:solidFill>
                <a:latin typeface="Calibri"/>
              </a:defRPr>
            </a:pPr>
            <a:r>
              <a:t>Retention moat: Issuers are sticky once deployed — switching compliance infrastructure post-issuance is extremely painful. Upgrade trigger: Self-hosted issuers hit operational friction (Merkle complexity, key management) and upgrade to managed.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RISK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9144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Our Riskiest Assumption — And How We’ll Test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THE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Issuers will voluntarily adopt SSTS as the standard rather than rolling their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8B8BA7"/>
                </a:solidFill>
                <a:latin typeface="Calibri"/>
              </a:defRPr>
            </a:pPr>
            <a:r>
              <a:t>Franklin Templeton and Securitize co-authored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8B8BA7"/>
                </a:solidFill>
                <a:latin typeface="Calibri"/>
              </a:defRPr>
            </a:pPr>
            <a:r>
              <a:t>the spec, but institutional inertia is real —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8B8BA7"/>
                </a:solidFill>
                <a:latin typeface="Calibri"/>
              </a:defRPr>
            </a:pPr>
            <a:r>
              <a:t>they may use proprietary tooling anyway.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2700">
            <a:solidFill>
              <a:srgbClr val="14F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468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F195"/>
                </a:solidFill>
                <a:latin typeface="Calibri"/>
              </a:defRPr>
            </a:pPr>
            <a:r>
              <a:t>VALIDATION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9260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1. Email Halborn: Have any teams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   requested an SDK or asked for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   implementation help?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   If yes → ship immediately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2. Confirm Solana Foundation $250K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   RFP is open and accepting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   applications for SSTS tooling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3. Post SSTS Anchor program on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   devnet in 2 weeks — validate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   the core technical claim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F195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914400" cy="381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Shipping the Canonical SSTS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F195"/>
                </a:solidFill>
                <a:latin typeface="Calibri"/>
              </a:defRPr>
            </a:pPr>
            <a:r>
              <a:t>Solana Foundation $250K RFP Grant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60% 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4389120" cy="320040"/>
          </a:xfrm>
          <a:prstGeom prst="roundRect">
            <a:avLst>
              <a:gd name="adj" fmla="val 15000"/>
            </a:avLst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8BA7"/>
                </a:solidFill>
                <a:latin typeface="Calibri"/>
              </a:defRPr>
            </a:pPr>
            <a:r>
              <a:t>SSTS + FAMP programs, SDK,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20%  Security Audit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1463040" cy="320040"/>
          </a:xfrm>
          <a:prstGeom prst="roundRect">
            <a:avLst>
              <a:gd name="adj" fmla="val 15000"/>
            </a:avLst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8BA7"/>
                </a:solidFill>
                <a:latin typeface="Calibri"/>
              </a:defRPr>
            </a:pPr>
            <a:r>
              <a:t>Sec3 / Neodyme / OtterSec ($20–40K)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10%  Infrastructure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77840"/>
            <a:ext cx="731520" cy="320040"/>
          </a:xfrm>
          <a:prstGeom prst="roundRect">
            <a:avLst>
              <a:gd name="adj" fmla="val 15000"/>
            </a:avLst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989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8BA7"/>
                </a:solidFill>
                <a:latin typeface="Calibri"/>
              </a:defRPr>
            </a:pPr>
            <a:r>
              <a:t>Hosting, RPC, DB ($260/mo)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10%  GTM + Community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6675120"/>
            <a:ext cx="731520" cy="320040"/>
          </a:xfrm>
          <a:prstGeom prst="roundRect">
            <a:avLst>
              <a:gd name="adj" fmla="val 1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7086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8BA7"/>
                </a:solidFill>
                <a:latin typeface="Calibri"/>
              </a:defRPr>
            </a:pPr>
            <a:r>
              <a:t>Events, content, partnerships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743200"/>
            <a:ext cx="5029200" cy="365760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2700">
            <a:solidFill>
              <a:srgbClr val="14F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926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F195"/>
                </a:solidFill>
                <a:latin typeface="Calibri"/>
              </a:defRPr>
            </a:pPr>
            <a:r>
              <a:t>FIRST MILESTONE (2 WEEKS)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4747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• Ship SSTS Anchor program on devnet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• Working create_token + mint_to +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  transfer hook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• No dashboard, no SDK yet — just a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  working on-chain program with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  Anchor test suite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• Post GitHub repo publicly on Day 14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• Validates core technical claim,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8B8BA7"/>
                </a:solidFill>
                <a:latin typeface="Calibri"/>
              </a:defRPr>
            </a:pPr>
            <a:r>
              <a:t>  establishes first-mover presence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9945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6400800"/>
          </a:xfrm>
          <a:prstGeom prst="ellipse">
            <a:avLst/>
          </a:prstGeom>
          <a:solidFill>
            <a:srgbClr val="14F19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F195"/>
                </a:solidFill>
                <a:latin typeface="Calibri"/>
              </a:defRPr>
            </a:pPr>
            <a:r>
              <a:t>THE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914400" cy="381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The Default Compliance Layer</a:t>
            </a:r>
            <a:br/>
            <a:r>
              <a:t>for All RWA Tokens on Solana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800" b="0">
                <a:solidFill>
                  <a:srgbClr val="8B8BA7"/>
                </a:solidFill>
                <a:latin typeface="Calibri"/>
              </a:defRPr>
            </a:pPr>
            <a:r>
              <a:t>Just as Metaplex became the standard for NFTs on Solana,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8B8BA7"/>
                </a:solidFill>
                <a:latin typeface="Calibri"/>
              </a:defRPr>
            </a:pPr>
            <a:r>
              <a:t>TokenForge becomes the standard for security tokens.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8B8BA7"/>
                </a:solidFill>
                <a:latin typeface="Calibri"/>
              </a:defRPr>
            </a:pPr>
          </a:p>
          <a:p>
            <a:pPr algn="l">
              <a:spcAft>
                <a:spcPts val="720"/>
              </a:spcAft>
              <a:defRPr sz="1800" b="0">
                <a:solidFill>
                  <a:srgbClr val="8B8BA7"/>
                </a:solidFill>
                <a:latin typeface="Calibri"/>
              </a:defRPr>
            </a:pPr>
            <a:r>
              <a:t>Every SSTS token issued through TokenForge is a distribution event.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8B8BA7"/>
                </a:solidFill>
                <a:latin typeface="Calibri"/>
              </a:defRPr>
            </a:pPr>
            <a:r>
              <a:t>DeFi integrations create pull demand.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8B8BA7"/>
                </a:solidFill>
                <a:latin typeface="Calibri"/>
              </a:defRPr>
            </a:pPr>
            <a:r>
              <a:t>Issuers are sticky once deployed.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F195"/>
                </a:solidFill>
                <a:latin typeface="Calibri"/>
              </a:defRPr>
            </a:pPr>
            <a:r>
              <a:t>npm install @tokenforge/sdk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6A"/>
                </a:solidFill>
                <a:latin typeface="Calibri"/>
              </a:defRPr>
            </a:pPr>
            <a:r>
              <a:t>github.com/tokenforge  |  team@tokenforge.io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